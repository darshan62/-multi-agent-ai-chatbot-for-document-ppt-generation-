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/>
  <p:sldIdLst>
    <p:sldId id="256" r:id="rId1"/>
    <p:sldId id="257" r:id="rId2"/>
    <p:sldId id="258" r:id="rId3"/>
    <p:sldId id="259" r:id="rId4"/>
    <p:sldId id="260" r:id="rId5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1000000" y="1800000"/>
            <a:ext cx="10192000" cy="18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ctr"/>
            <a:r>
              <a:rPr lang="en-US" sz="3600" b="1" dirty="0">
                <a:solidFill>
                  <a:srgbClr val="E2E8F0"/>
                </a:solidFill>
              </a:rPr>
              <a:t>ENTERPRISE MULTI-AGENT AI</a:t>
            </a:r>
          </a:p>
        </p:txBody>
      </p:sp>
      <p:sp>
        <p:nvSpPr>
          <p:cNvPr id="4" name="Shape_4"/>
          <p:cNvSpPr/>
          <p:nvPr/>
        </p:nvSpPr>
        <p:spPr>
          <a:xfrm>
            <a:off x="1200000" y="3600000"/>
            <a:ext cx="9792000" cy="12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ctr"/>
            <a:r>
              <a:rPr lang="en-US" sz="2000" b="0" dirty="0">
                <a:solidFill>
                  <a:srgbClr val="475569"/>
                </a:solidFill>
              </a:rPr>
              <a:t>Executive Strategy &amp; ROI Briefing</a:t>
            </a:r>
          </a:p>
        </p:txBody>
      </p:sp>
      <p:sp>
        <p:nvSpPr>
          <p:cNvPr id="5" name="Shape_5"/>
          <p:cNvSpPr/>
          <p:nvPr/>
        </p:nvSpPr>
        <p:spPr>
          <a:xfrm>
            <a:off x="1000000" y="5800000"/>
            <a:ext cx="10192000" cy="5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ctr"/>
            <a:r>
              <a:rPr lang="en-US" sz="1200" b="0" dirty="0">
                <a:solidFill>
                  <a:srgbClr val="94A3B8"/>
                </a:solidFill>
              </a:rPr>
              <a:t>Condensed Board Deck |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334155"/>
                </a:solidFill>
              </a:rPr>
              <a:t>STRATEGIC OVERVIEW</a:t>
            </a:r>
          </a:p>
        </p:txBody>
      </p:sp>
      <p:sp>
        <p:nvSpPr>
          <p:cNvPr id="4" name="Shape_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E2E8F0"/>
                </a:solidFill>
              </a:rPr>
              <a:t>Executive Overview (Concise)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10592000" cy="1400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400" b="1" dirty="0">
                <a:solidFill>
                  <a:srgbClr val="E2E8F0"/>
                </a:solidFill>
              </a:rPr>
              <a:t>EXECUTIVE CALLOUT: </a:t>
            </a:r>
            <a:r>
              <a:rPr lang="en-US" sz="1400" b="0" dirty="0">
                <a:solidFill>
                  <a:srgbClr val="1E293B"/>
                </a:solidFill>
              </a:rPr>
              <a:t>Autonomous multi-agent architecture accelerates decision cycles by 65% with 100% brand fidelity.</a:t>
            </a:r>
          </a:p>
        </p:txBody>
      </p:sp>
      <p:sp>
        <p:nvSpPr>
          <p:cNvPr id="7" name="Shape_7"/>
          <p:cNvSpPr/>
          <p:nvPr/>
        </p:nvSpPr>
        <p:spPr>
          <a:xfrm>
            <a:off x="800000" y="3400000"/>
            <a:ext cx="3300000" cy="2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400" b="1" dirty="0">
                <a:solidFill>
                  <a:srgbClr val="334155"/>
                </a:solidFill>
              </a:rPr>
              <a:t>Pillar 01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40% enterprise adoption by 2026 [Web-1].</a:t>
            </a:r>
          </a:p>
        </p:txBody>
      </p:sp>
      <p:sp>
        <p:nvSpPr>
          <p:cNvPr id="8" name="Shape_8"/>
          <p:cNvSpPr/>
          <p:nvPr/>
        </p:nvSpPr>
        <p:spPr>
          <a:xfrm>
            <a:off x="4446000" y="3400000"/>
            <a:ext cx="3300000" cy="2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400" b="1" dirty="0">
                <a:solidFill>
                  <a:srgbClr val="334155"/>
                </a:solidFill>
              </a:rPr>
              <a:t>Pillar 02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$2.6T-$4.4T annual value potential [Web-2].</a:t>
            </a:r>
          </a:p>
        </p:txBody>
      </p:sp>
      <p:sp>
        <p:nvSpPr>
          <p:cNvPr id="9" name="Shape_9"/>
          <p:cNvSpPr/>
          <p:nvPr/>
        </p:nvSpPr>
        <p:spPr>
          <a:xfrm>
            <a:off x="8092000" y="3400000"/>
            <a:ext cx="3300000" cy="2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400" b="1" dirty="0">
                <a:solidFill>
                  <a:srgbClr val="334155"/>
                </a:solidFill>
              </a:rPr>
              <a:t>Pillar 03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Zero desktop software dependencies.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334155"/>
                </a:solidFill>
              </a:rPr>
              <a:t>KEY BUSINESS IMPACT &amp; METRICS</a:t>
            </a:r>
          </a:p>
        </p:txBody>
      </p:sp>
      <p:sp>
        <p:nvSpPr>
          <p:cNvPr id="4" name="Shape_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E2E8F0"/>
                </a:solidFill>
              </a:rPr>
              <a:t>Key ROI Highlights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5100000" cy="2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3200" b="1" dirty="0">
                <a:solidFill>
                  <a:srgbClr val="F1F5F9"/>
                </a:solidFill>
              </a:rPr>
              <a:t>93%</a:t>
            </a:r>
          </a:p>
          <a:p>
            <a:pPr algn="l"/>
            <a:r>
              <a:rPr lang="en-US" sz="1500" b="1" dirty="0">
                <a:solidFill>
                  <a:srgbClr val="E2E8F0"/>
                </a:solidFill>
              </a:rPr>
              <a:t>
Time Saved</a:t>
            </a:r>
          </a:p>
          <a:p>
            <a:pPr algn="l"/>
            <a:r>
              <a:rPr lang="en-US" sz="1200" b="0" dirty="0">
                <a:solidFill>
                  <a:srgbClr val="64748B"/>
                </a:solidFill>
              </a:rPr>
              <a:t>
From 4.5 hrs to 18 sec</a:t>
            </a:r>
          </a:p>
        </p:txBody>
      </p:sp>
      <p:sp>
        <p:nvSpPr>
          <p:cNvPr id="7" name="Shape_7"/>
          <p:cNvSpPr/>
          <p:nvPr/>
        </p:nvSpPr>
        <p:spPr>
          <a:xfrm>
            <a:off x="6292000" y="1800000"/>
            <a:ext cx="5100000" cy="2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3200" b="1" dirty="0">
                <a:solidFill>
                  <a:srgbClr val="F1F5F9"/>
                </a:solidFill>
              </a:rPr>
              <a:t>100%</a:t>
            </a:r>
          </a:p>
          <a:p>
            <a:pPr algn="l"/>
            <a:r>
              <a:rPr lang="en-US" sz="1500" b="1" dirty="0">
                <a:solidFill>
                  <a:srgbClr val="E2E8F0"/>
                </a:solidFill>
              </a:rPr>
              <a:t>
Compliance</a:t>
            </a:r>
          </a:p>
          <a:p>
            <a:pPr algn="l"/>
            <a:r>
              <a:rPr lang="en-US" sz="1200" b="0" dirty="0">
                <a:solidFill>
                  <a:srgbClr val="64748B"/>
                </a:solidFill>
              </a:rPr>
              <a:t>
Exact brand styling</a:t>
            </a:r>
          </a:p>
        </p:txBody>
      </p:sp>
      <p:sp>
        <p:nvSpPr>
          <p:cNvPr id="8" name="Shape_8"/>
          <p:cNvSpPr/>
          <p:nvPr/>
        </p:nvSpPr>
        <p:spPr>
          <a:xfrm>
            <a:off x="800000" y="4150000"/>
            <a:ext cx="5100000" cy="2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3200" b="1" dirty="0">
                <a:solidFill>
                  <a:srgbClr val="F1F5F9"/>
                </a:solidFill>
              </a:rPr>
              <a:t>91.4%</a:t>
            </a:r>
          </a:p>
          <a:p>
            <a:pPr algn="l"/>
            <a:r>
              <a:rPr lang="en-US" sz="1500" b="1" dirty="0">
                <a:solidFill>
                  <a:srgbClr val="E2E8F0"/>
                </a:solidFill>
              </a:rPr>
              <a:t>
Accuracy</a:t>
            </a:r>
          </a:p>
          <a:p>
            <a:pPr algn="l"/>
            <a:r>
              <a:rPr lang="en-US" sz="1200" b="0" dirty="0">
                <a:solidFill>
                  <a:srgbClr val="64748B"/>
                </a:solidFill>
              </a:rPr>
              <a:t>
RAG-anchored search</a:t>
            </a:r>
          </a:p>
        </p:txBody>
      </p:sp>
      <p:sp>
        <p:nvSpPr>
          <p:cNvPr id="9" name="Shape_9"/>
          <p:cNvSpPr/>
          <p:nvPr/>
        </p:nvSpPr>
        <p:spPr>
          <a:xfrm>
            <a:off x="6292000" y="4150000"/>
            <a:ext cx="5100000" cy="2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3200" b="1" dirty="0">
                <a:solidFill>
                  <a:srgbClr val="F1F5F9"/>
                </a:solidFill>
              </a:rPr>
              <a:t>0</a:t>
            </a:r>
          </a:p>
          <a:p>
            <a:pPr algn="l"/>
            <a:r>
              <a:rPr lang="en-US" sz="1500" b="1" dirty="0">
                <a:solidFill>
                  <a:srgbClr val="E2E8F0"/>
                </a:solidFill>
              </a:rPr>
              <a:t>
Hallucinations</a:t>
            </a:r>
          </a:p>
          <a:p>
            <a:pPr algn="l"/>
            <a:r>
              <a:rPr lang="en-US" sz="1200" b="0" dirty="0">
                <a:solidFill>
                  <a:srgbClr val="64748B"/>
                </a:solidFill>
              </a:rPr>
              <a:t>
Verified citations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334155"/>
                </a:solidFill>
              </a:rPr>
              <a:t>MARKET DYNAMICS</a:t>
            </a:r>
          </a:p>
        </p:txBody>
      </p:sp>
      <p:sp>
        <p:nvSpPr>
          <p:cNvPr id="4" name="Shape_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E2E8F0"/>
                </a:solidFill>
              </a:rPr>
              <a:t>Core Architectural Pillars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33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E2E8F0"/>
                </a:solidFill>
              </a:rPr>
              <a:t>Orchestrator</a:t>
            </a:r>
          </a:p>
          <a:p>
            <a:pPr algn="l"/>
            <a:r>
              <a:rPr lang="en-US" sz="1300" b="0" dirty="0">
                <a:solidFill>
                  <a:srgbClr val="475569"/>
                </a:solidFill>
              </a:rPr>
              <a:t>
Supervisor routing and dispatch.</a:t>
            </a:r>
          </a:p>
          <a:p>
            <a:pPr algn="l"/>
            <a:r>
              <a:rPr lang="en-US" sz="1800" b="1" dirty="0">
                <a:solidFill>
                  <a:srgbClr val="F1F5F9"/>
                </a:solidFill>
              </a:rPr>
              <a:t>
Sub-50ms</a:t>
            </a:r>
          </a:p>
        </p:txBody>
      </p:sp>
      <p:sp>
        <p:nvSpPr>
          <p:cNvPr id="7" name="Shape_7"/>
          <p:cNvSpPr/>
          <p:nvPr/>
        </p:nvSpPr>
        <p:spPr>
          <a:xfrm>
            <a:off x="4446000" y="1800000"/>
            <a:ext cx="33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E2E8F0"/>
                </a:solidFill>
              </a:rPr>
              <a:t>Dual RAG</a:t>
            </a:r>
          </a:p>
          <a:p>
            <a:pPr algn="l"/>
            <a:r>
              <a:rPr lang="en-US" sz="1300" b="0" dirty="0">
                <a:solidFill>
                  <a:srgbClr val="475569"/>
                </a:solidFill>
              </a:rPr>
              <a:t>
Web intelligence + Vector store.</a:t>
            </a:r>
          </a:p>
          <a:p>
            <a:pPr algn="l"/>
            <a:r>
              <a:rPr lang="en-US" sz="1800" b="1" dirty="0">
                <a:solidFill>
                  <a:srgbClr val="F1F5F9"/>
                </a:solidFill>
              </a:rPr>
              <a:t>
Grounded</a:t>
            </a:r>
          </a:p>
        </p:txBody>
      </p:sp>
      <p:sp>
        <p:nvSpPr>
          <p:cNvPr id="8" name="Shape_8"/>
          <p:cNvSpPr/>
          <p:nvPr/>
        </p:nvSpPr>
        <p:spPr>
          <a:xfrm>
            <a:off x="8092000" y="1800000"/>
            <a:ext cx="33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E2E8F0"/>
                </a:solidFill>
              </a:rPr>
              <a:t>Synthesis</a:t>
            </a:r>
          </a:p>
          <a:p>
            <a:pPr algn="l"/>
            <a:r>
              <a:rPr lang="en-US" sz="1300" b="0" dirty="0">
                <a:solidFill>
                  <a:srgbClr val="475569"/>
                </a:solidFill>
              </a:rPr>
              <a:t>
Pure OpenXML DOCX &amp; PPTX engines.</a:t>
            </a:r>
          </a:p>
          <a:p>
            <a:pPr algn="l"/>
            <a:r>
              <a:rPr lang="en-US" sz="1800" b="1" dirty="0">
                <a:solidFill>
                  <a:srgbClr val="F1F5F9"/>
                </a:solidFill>
              </a:rPr>
              <a:t>
Native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334155"/>
                </a:solidFill>
              </a:rPr>
              <a:t>IMPLEMENTATION ROADMAP</a:t>
            </a:r>
          </a:p>
        </p:txBody>
      </p:sp>
      <p:sp>
        <p:nvSpPr>
          <p:cNvPr id="4" name="Shape_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E2E8F0"/>
                </a:solidFill>
              </a:rPr>
              <a:t>Quarterly Milestones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2498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800" b="1" dirty="0">
                <a:solidFill>
                  <a:srgbClr val="334155"/>
                </a:solidFill>
              </a:rPr>
              <a:t>Q1</a:t>
            </a:r>
          </a:p>
          <a:p>
            <a:pPr algn="l"/>
            <a:r>
              <a:rPr lang="en-US" sz="1400" b="1" dirty="0">
                <a:solidFill>
                  <a:srgbClr val="E2E8F0"/>
                </a:solidFill>
              </a:rPr>
              <a:t>
Ingest
</a:t>
            </a:r>
          </a:p>
          <a:p>
            <a:pPr algn="l"/>
            <a:r>
              <a:rPr lang="en-US" sz="1100" b="0" dirty="0">
                <a:solidFill>
                  <a:srgbClr val="475569"/>
                </a:solidFill>
              </a:rPr>
              <a:t>
• Supervisor</a:t>
            </a:r>
          </a:p>
          <a:p>
            <a:pPr algn="l"/>
            <a:r>
              <a:rPr lang="en-US" sz="1100" b="0" dirty="0">
                <a:solidFill>
                  <a:srgbClr val="475569"/>
                </a:solidFill>
              </a:rPr>
              <a:t>
• OCR Pipeline</a:t>
            </a:r>
          </a:p>
        </p:txBody>
      </p:sp>
      <p:sp>
        <p:nvSpPr>
          <p:cNvPr id="7" name="Shape_7"/>
          <p:cNvSpPr/>
          <p:nvPr/>
        </p:nvSpPr>
        <p:spPr>
          <a:xfrm>
            <a:off x="3448000" y="1800000"/>
            <a:ext cx="2498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800" b="1" dirty="0">
                <a:solidFill>
                  <a:srgbClr val="334155"/>
                </a:solidFill>
              </a:rPr>
              <a:t>Q2</a:t>
            </a:r>
          </a:p>
          <a:p>
            <a:pPr algn="l"/>
            <a:r>
              <a:rPr lang="en-US" sz="1400" b="1" dirty="0">
                <a:solidFill>
                  <a:srgbClr val="E2E8F0"/>
                </a:solidFill>
              </a:rPr>
              <a:t>
Ground
</a:t>
            </a:r>
          </a:p>
          <a:p>
            <a:pPr algn="l"/>
            <a:r>
              <a:rPr lang="en-US" sz="1100" b="0" dirty="0">
                <a:solidFill>
                  <a:srgbClr val="475569"/>
                </a:solidFill>
              </a:rPr>
              <a:t>
• Web RAG</a:t>
            </a:r>
          </a:p>
          <a:p>
            <a:pPr algn="l"/>
            <a:r>
              <a:rPr lang="en-US" sz="1100" b="0" dirty="0">
                <a:solidFill>
                  <a:srgbClr val="475569"/>
                </a:solidFill>
              </a:rPr>
              <a:t>
• Pinecone DB</a:t>
            </a:r>
          </a:p>
        </p:txBody>
      </p:sp>
      <p:sp>
        <p:nvSpPr>
          <p:cNvPr id="8" name="Shape_8"/>
          <p:cNvSpPr/>
          <p:nvPr/>
        </p:nvSpPr>
        <p:spPr>
          <a:xfrm>
            <a:off x="6096000" y="1800000"/>
            <a:ext cx="2498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800" b="1" dirty="0">
                <a:solidFill>
                  <a:srgbClr val="334155"/>
                </a:solidFill>
              </a:rPr>
              <a:t>Q3</a:t>
            </a:r>
          </a:p>
          <a:p>
            <a:pPr algn="l"/>
            <a:r>
              <a:rPr lang="en-US" sz="1400" b="1" dirty="0">
                <a:solidFill>
                  <a:srgbClr val="E2E8F0"/>
                </a:solidFill>
              </a:rPr>
              <a:t>
Scale
</a:t>
            </a:r>
          </a:p>
          <a:p>
            <a:pPr algn="l"/>
            <a:r>
              <a:rPr lang="en-US" sz="1100" b="0" dirty="0">
                <a:solidFill>
                  <a:srgbClr val="475569"/>
                </a:solidFill>
              </a:rPr>
              <a:t>
• Conversational Edit</a:t>
            </a:r>
          </a:p>
          <a:p>
            <a:pPr algn="l"/>
            <a:r>
              <a:rPr lang="en-US" sz="1100" b="0" dirty="0">
                <a:solidFill>
                  <a:srgbClr val="475569"/>
                </a:solidFill>
              </a:rPr>
              <a:t>
• SSO</a:t>
            </a:r>
          </a:p>
        </p:txBody>
      </p:sp>
      <p:sp>
        <p:nvSpPr>
          <p:cNvPr id="9" name="Shape_9"/>
          <p:cNvSpPr/>
          <p:nvPr/>
        </p:nvSpPr>
        <p:spPr>
          <a:xfrm>
            <a:off x="8744000" y="1800000"/>
            <a:ext cx="2498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800" b="1" dirty="0">
                <a:solidFill>
                  <a:srgbClr val="334155"/>
                </a:solidFill>
              </a:rPr>
              <a:t>Q4</a:t>
            </a:r>
          </a:p>
          <a:p>
            <a:pPr algn="l"/>
            <a:r>
              <a:rPr lang="en-US" sz="1400" b="1" dirty="0">
                <a:solidFill>
                  <a:srgbClr val="E2E8F0"/>
                </a:solidFill>
              </a:rPr>
              <a:t>
Audit
</a:t>
            </a:r>
          </a:p>
          <a:p>
            <a:pPr algn="l"/>
            <a:r>
              <a:rPr lang="en-US" sz="1100" b="0" dirty="0">
                <a:solidFill>
                  <a:srgbClr val="475569"/>
                </a:solidFill>
              </a:rPr>
              <a:t>
• SOC2 Certification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Enterprise Multi-Agent DocuSynth</Application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Enterprise Multi-Agent AI Strategy (Concise Edition)</dc:title>
  <dc:creator>Enterprise Multi-Agent AI System</dc:creator>
  <cp:lastModifiedBy>PPT Generation Agent</cp:lastModifiedBy>
  <cp:revision>1</cp:revision>
</cp:coreProperties>
</file>