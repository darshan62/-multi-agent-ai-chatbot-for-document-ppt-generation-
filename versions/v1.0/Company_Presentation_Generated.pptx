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1000000" y="1800000"/>
            <a:ext cx="10192000" cy="18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3600" b="1" dirty="0">
                <a:solidFill>
                  <a:srgbClr val="E2E8F0"/>
                </a:solidFill>
              </a:rPr>
              <a:t>ENTERPRISE MULTI-AGENT AI PLATFORM</a:t>
            </a:r>
          </a:p>
        </p:txBody>
      </p:sp>
      <p:sp>
        <p:nvSpPr>
          <p:cNvPr id="4" name="Shape_4"/>
          <p:cNvSpPr/>
          <p:nvPr/>
        </p:nvSpPr>
        <p:spPr>
          <a:xfrm>
            <a:off x="1200000" y="3600000"/>
            <a:ext cx="9792000" cy="12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2000" b="0" dirty="0">
                <a:solidFill>
                  <a:srgbClr val="475569"/>
                </a:solidFill>
              </a:rPr>
              <a:t>Autonomous Document &amp; Presentation Synthesis with Real-Time Web Grounding &amp; Vector RAG</a:t>
            </a:r>
          </a:p>
        </p:txBody>
      </p:sp>
      <p:sp>
        <p:nvSpPr>
          <p:cNvPr id="5" name="Shape_5"/>
          <p:cNvSpPr/>
          <p:nvPr/>
        </p:nvSpPr>
        <p:spPr>
          <a:xfrm>
            <a:off x="1000000" y="5800000"/>
            <a:ext cx="10192000" cy="5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ctr"/>
            <a:r>
              <a:rPr lang="en-US" sz="1200" b="0" dirty="0">
                <a:solidFill>
                  <a:srgbClr val="94A3B8"/>
                </a:solidFill>
              </a:rPr>
              <a:t>Executive Briefing 2025 | Confidential | Enterprise Architecture Strategy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STRATEGIC OVERVIEW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Executive Summary &amp; Strategic Vision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1400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E2E8F0"/>
                </a:solidFill>
              </a:rPr>
              <a:t>EXECUTIVE CALLOUT: </a:t>
            </a:r>
            <a:r>
              <a:rPr lang="en-US" sz="1400" b="0" dirty="0">
                <a:solidFill>
                  <a:srgbClr val="1E293B"/>
                </a:solidFill>
              </a:rPr>
              <a:t>Next-generation multi-agent architecture accelerates enterprise decision cycles by autonomously orchestrating research, vector retrieval, and brand-compliant document/presentation synthesis.</a:t>
            </a:r>
          </a:p>
        </p:txBody>
      </p:sp>
      <p:sp>
        <p:nvSpPr>
          <p:cNvPr id="7" name="Shape_7"/>
          <p:cNvSpPr/>
          <p:nvPr/>
        </p:nvSpPr>
        <p:spPr>
          <a:xfrm>
            <a:off x="800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334155"/>
                </a:solidFill>
              </a:rPr>
              <a:t>Pillar 01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Gartner predicts 40% of enterprise software will embed autonomous agents by 2026 [Web-1].</a:t>
            </a:r>
          </a:p>
        </p:txBody>
      </p:sp>
      <p:sp>
        <p:nvSpPr>
          <p:cNvPr id="8" name="Shape_8"/>
          <p:cNvSpPr/>
          <p:nvPr/>
        </p:nvSpPr>
        <p:spPr>
          <a:xfrm>
            <a:off x="4446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334155"/>
                </a:solidFill>
              </a:rPr>
              <a:t>Pillar 02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McKinsey estimates $2.6T-$4.4T economic impact from automated document intelligence [Web-2].</a:t>
            </a:r>
          </a:p>
        </p:txBody>
      </p:sp>
      <p:sp>
        <p:nvSpPr>
          <p:cNvPr id="9" name="Shape_9"/>
          <p:cNvSpPr/>
          <p:nvPr/>
        </p:nvSpPr>
        <p:spPr>
          <a:xfrm>
            <a:off x="8092000" y="3400000"/>
            <a:ext cx="3300000" cy="2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334155"/>
                </a:solidFill>
              </a:rPr>
              <a:t>Pillar 03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Zero desktop dependencies enables containerized Cloud Run deployments and rapid scaling.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Market Forces Driving Multi-Agent Adoption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Autonomous Orchestration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Coordinated agent networks decompose complex tasks with deterministic tool calling and validation checkpoints.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68% Higher Accuracy</a:t>
            </a:r>
          </a:p>
        </p:txBody>
      </p:sp>
      <p:sp>
        <p:nvSpPr>
          <p:cNvPr id="7" name="Shape_7"/>
          <p:cNvSpPr/>
          <p:nvPr/>
        </p:nvSpPr>
        <p:spPr>
          <a:xfrm>
            <a:off x="4446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Economic Velocity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Automating executive briefing synthesis compresses preparation cycles from hours to seconds.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$2.6T-$4.4T Value</a:t>
            </a:r>
          </a:p>
        </p:txBody>
      </p:sp>
      <p:sp>
        <p:nvSpPr>
          <p:cNvPr id="8" name="Shape_8"/>
          <p:cNvSpPr/>
          <p:nvPr/>
        </p:nvSpPr>
        <p:spPr>
          <a:xfrm>
            <a:off x="8092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Factual Grounding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Dense vector search over proprietary enterprise knowledge eliminates generative hallucinations.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91.4% Accuracy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WEB INTELLIGENCE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2025 Generative AI Research Benchmarks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51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Key Research Findings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Agentic workflows outperform monolithic models across all enterprise tasks (Stanford AI Index) [Web-3].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Domain-specific Small Language Models (SLMs) slash inference costs by 90% (MIT Review) [Web-4].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Enterprise RAG with sliding-window chunking preserves tabular context accurately.</a:t>
            </a:r>
          </a:p>
        </p:txBody>
      </p:sp>
      <p:sp>
        <p:nvSpPr>
          <p:cNvPr id="7" name="Shape_7"/>
          <p:cNvSpPr/>
          <p:nvPr/>
        </p:nvSpPr>
        <p:spPr>
          <a:xfrm>
            <a:off x="6292000" y="1800000"/>
            <a:ext cx="51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334155"/>
                </a:solidFill>
              </a:rPr>
              <a:t>Enterprise Strategic Implications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Shift from conversational chat prompts to end-to-end task execution.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Mandatory end-to-end citation provenance and version audit trails [Web-5].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Direct synthesis into native OpenXML (DOCX, PPTX) formats eliminates reformatting overhead.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KEY BUSINESS IMPACT &amp; METRICS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Quantifiable Operational Impact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93%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Document Prep Acceleration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From 4.5 hours down to 18 seconds per proposal</a:t>
            </a:r>
          </a:p>
        </p:txBody>
      </p:sp>
      <p:sp>
        <p:nvSpPr>
          <p:cNvPr id="7" name="Shape_7"/>
          <p:cNvSpPr/>
          <p:nvPr/>
        </p:nvSpPr>
        <p:spPr>
          <a:xfrm>
            <a:off x="6292000" y="180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95%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Slide Deck Velocity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From 6 hours to 25 seconds for 12-slide decks</a:t>
            </a:r>
          </a:p>
        </p:txBody>
      </p:sp>
      <p:sp>
        <p:nvSpPr>
          <p:cNvPr id="8" name="Shape_8"/>
          <p:cNvSpPr/>
          <p:nvPr/>
        </p:nvSpPr>
        <p:spPr>
          <a:xfrm>
            <a:off x="800000" y="415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100%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Brand Compliance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Programmatic typography, color, and margin fidelity</a:t>
            </a:r>
          </a:p>
        </p:txBody>
      </p:sp>
      <p:sp>
        <p:nvSpPr>
          <p:cNvPr id="9" name="Shape_9"/>
          <p:cNvSpPr/>
          <p:nvPr/>
        </p:nvSpPr>
        <p:spPr>
          <a:xfrm>
            <a:off x="6292000" y="4150000"/>
            <a:ext cx="5100000" cy="20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3200" b="1" dirty="0">
                <a:solidFill>
                  <a:srgbClr val="F1F5F9"/>
                </a:solidFill>
              </a:rPr>
              <a:t>0%</a:t>
            </a:r>
          </a:p>
          <a:p>
            <a:pPr algn="l"/>
            <a:r>
              <a:rPr lang="en-US" sz="1500" b="1" dirty="0">
                <a:solidFill>
                  <a:srgbClr val="E2E8F0"/>
                </a:solidFill>
              </a:rPr>
              <a:t>
Ungrounded Claims</a:t>
            </a:r>
          </a:p>
          <a:p>
            <a:pPr algn="l"/>
            <a:r>
              <a:rPr lang="en-US" sz="1200" b="0" dirty="0">
                <a:solidFill>
                  <a:srgbClr val="64748B"/>
                </a:solidFill>
              </a:rPr>
              <a:t>
100% citation coverage across all generated slides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Hierarchical Agent Architecture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1. Ingestion &amp; Analysis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Document and PPT Analyzers extract typography, color palettes, and layouts from DOCX, PDF, and OCR files.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Multi-Modal</a:t>
            </a:r>
          </a:p>
        </p:txBody>
      </p:sp>
      <p:sp>
        <p:nvSpPr>
          <p:cNvPr id="7" name="Shape_7"/>
          <p:cNvSpPr/>
          <p:nvPr/>
        </p:nvSpPr>
        <p:spPr>
          <a:xfrm>
            <a:off x="4446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2. Intelligence &amp; RAG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Web Researcher and Enterprise RAG perform live web queries and Pinecone-compatible vector retrieval.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Dual-Grounding</a:t>
            </a:r>
          </a:p>
        </p:txBody>
      </p:sp>
      <p:sp>
        <p:nvSpPr>
          <p:cNvPr id="8" name="Shape_8"/>
          <p:cNvSpPr/>
          <p:nvPr/>
        </p:nvSpPr>
        <p:spPr>
          <a:xfrm>
            <a:off x="8092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3. Synthesis &amp; QA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Doc and PPT Generators synthesize pure OpenXML files validated by the QA Agent before delivery.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Zero-Defect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KNOWLEDGE RETRIEVAL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Enterprise Vector RAG Grounding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51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Retrieved Corporate Directives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Grounding Document: Acme Enterprise AI Strategy 2025 (Part 2)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Enforces strict data classification: Confidential &amp; Proprietary.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Adheres to Enterprise SLA: Sub-second synthesis with 99.95% uptime target.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Mandates local vector embeddings to preserve sensitive IP confidentiality.</a:t>
            </a:r>
          </a:p>
        </p:txBody>
      </p:sp>
      <p:sp>
        <p:nvSpPr>
          <p:cNvPr id="7" name="Shape_7"/>
          <p:cNvSpPr/>
          <p:nvPr/>
        </p:nvSpPr>
        <p:spPr>
          <a:xfrm>
            <a:off x="6292000" y="1800000"/>
            <a:ext cx="51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334155"/>
                </a:solidFill>
              </a:rPr>
              <a:t>Technical Implementation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Sliding-window chunking (350-character window, 60-character overlap).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Dense semantic embeddings with L2 normalization and cosine similarity.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SQLite/Pinecone dual-compatible persistence layer.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Automatic citation linkage to source document chapters.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MARKET BENCHMARKING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Competitive Landscape &amp; Strategic Differentiation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300" b="1" dirty="0">
                <a:solidFill>
                  <a:srgbClr val="E2E8F0"/>
                </a:solidFill>
              </a:rPr>
              <a:t>Capability | Standard LLM Chat | Legacy Office Add-in | Our Multi-Agent Platform</a:t>
            </a:r>
          </a:p>
          <a:p>
            <a:pPr algn="l"/>
            <a:r>
              <a:rPr lang="en-US" sz="1200" b="0" dirty="0">
                <a:solidFill>
                  <a:srgbClr val="334155"/>
                </a:solidFill>
              </a:rPr>
              <a:t>
Multi-Agent Orchestrator | None (Single Agent) | None (Rule-based) | Yes (Supervisor Pattern)</a:t>
            </a:r>
          </a:p>
          <a:p>
            <a:pPr algn="l"/>
            <a:r>
              <a:rPr lang="en-US" sz="1200" b="0" dirty="0">
                <a:solidFill>
                  <a:srgbClr val="334155"/>
                </a:solidFill>
              </a:rPr>
              <a:t>
Template Fidelity | 0% (Raw Markdown) | Partial (Style copy) | 100% (OpenXML Extraction)</a:t>
            </a:r>
          </a:p>
          <a:p>
            <a:pPr algn="l"/>
            <a:r>
              <a:rPr lang="en-US" sz="1200" b="0" dirty="0">
                <a:solidFill>
                  <a:srgbClr val="334155"/>
                </a:solidFill>
              </a:rPr>
              <a:t>
Real-Time Web Search | Varies / Ungrounded | None | Yes (Verified Citations)</a:t>
            </a:r>
          </a:p>
          <a:p>
            <a:pPr algn="l"/>
            <a:r>
              <a:rPr lang="en-US" sz="1200" b="0" dirty="0">
                <a:solidFill>
                  <a:srgbClr val="334155"/>
                </a:solidFill>
              </a:rPr>
              <a:t>
Enterprise Vector RAG | None | Basic Search | Yes (Dense Vector Store)</a:t>
            </a:r>
          </a:p>
          <a:p>
            <a:pPr algn="l"/>
            <a:r>
              <a:rPr lang="en-US" sz="1200" b="0" dirty="0">
                <a:solidFill>
                  <a:srgbClr val="334155"/>
                </a:solidFill>
              </a:rPr>
              <a:t>
Conversational In-Place Edit | Regenerates from zero | Manual UI only | Yes (Diff-Preserving)</a:t>
            </a:r>
          </a:p>
          <a:p>
            <a:pPr algn="l"/>
            <a:r>
              <a:rPr lang="en-US" sz="1200" b="0" dirty="0">
                <a:solidFill>
                  <a:srgbClr val="334155"/>
                </a:solidFill>
              </a:rPr>
              <a:t>
Bidirectional Conversion | No | No | Yes (DOCX &lt;-&gt; PPTX)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IMPLEMENTATION ROADMAP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Enterprise Deployment Roadmap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Q1 2025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Foundation &amp; Ingestion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Supervisor engine setup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Template vectorization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OCR vision pipeline</a:t>
            </a:r>
          </a:p>
        </p:txBody>
      </p:sp>
      <p:sp>
        <p:nvSpPr>
          <p:cNvPr id="7" name="Shape_7"/>
          <p:cNvSpPr/>
          <p:nvPr/>
        </p:nvSpPr>
        <p:spPr>
          <a:xfrm>
            <a:off x="3448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Q2 2025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Intelligence &amp; Grounding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Real-time web search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Pinecone DB integration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RAG confidence tuning</a:t>
            </a:r>
          </a:p>
        </p:txBody>
      </p:sp>
      <p:sp>
        <p:nvSpPr>
          <p:cNvPr id="8" name="Shape_8"/>
          <p:cNvSpPr/>
          <p:nvPr/>
        </p:nvSpPr>
        <p:spPr>
          <a:xfrm>
            <a:off x="6096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Q3 2025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Conversational Editing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Natural-language edits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Bidirectional converter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Enterprise SSO</a:t>
            </a:r>
          </a:p>
        </p:txBody>
      </p:sp>
      <p:sp>
        <p:nvSpPr>
          <p:cNvPr id="9" name="Shape_9"/>
          <p:cNvSpPr/>
          <p:nvPr/>
        </p:nvSpPr>
        <p:spPr>
          <a:xfrm>
            <a:off x="8744000" y="1800000"/>
            <a:ext cx="2498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800" b="1" dirty="0">
                <a:solidFill>
                  <a:srgbClr val="334155"/>
                </a:solidFill>
              </a:rPr>
              <a:t>Q4 2025</a:t>
            </a:r>
          </a:p>
          <a:p>
            <a:pPr algn="l"/>
            <a:r>
              <a:rPr lang="en-US" sz="1400" b="1" dirty="0">
                <a:solidFill>
                  <a:srgbClr val="E2E8F0"/>
                </a:solidFill>
              </a:rPr>
              <a:t>
Global Scale &amp; Governance
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SOC2 Type II certification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Audit trail dashboard</a:t>
            </a:r>
          </a:p>
          <a:p>
            <a:pPr algn="l"/>
            <a:r>
              <a:rPr lang="en-US" sz="1100" b="0" dirty="0">
                <a:solidFill>
                  <a:srgbClr val="475569"/>
                </a:solidFill>
              </a:rPr>
              <a:t>
• Global multi-region rollout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COMPLIANCE &amp; AUDIT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Enterprise Security &amp; Governance Framework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51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Data Privacy &amp; Zero-Trust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No training on proprietary customer prompt or template data.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Role-Based Access Control (RBAC) with granular tenant isolation.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AES-256 encryption at rest and TLS 1.3 in transit.</a:t>
            </a:r>
          </a:p>
        </p:txBody>
      </p:sp>
      <p:sp>
        <p:nvSpPr>
          <p:cNvPr id="7" name="Shape_7"/>
          <p:cNvSpPr/>
          <p:nvPr/>
        </p:nvSpPr>
        <p:spPr>
          <a:xfrm>
            <a:off x="6292000" y="1800000"/>
            <a:ext cx="51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334155"/>
                </a:solidFill>
              </a:rPr>
              <a:t>Regulatory Compliance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Aligned with EU AI Act Risk Management Framework [Web-5].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Cryptographic version snapshots and immutable audit logs.</a:t>
            </a:r>
          </a:p>
          <a:p>
            <a:pPr algn="l"/>
            <a:r>
              <a:rPr lang="en-US" sz="1300" b="0" dirty="0">
                <a:solidFill>
                  <a:srgbClr val="334155"/>
                </a:solidFill>
              </a:rPr>
              <a:t>
• Instant rollback to prior approved versions via VersionManager.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PROVENANCE &amp; CITATIONS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Source Citations &amp; Research Provenance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10592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400" b="1" dirty="0">
                <a:solidFill>
                  <a:srgbClr val="E2E8F0"/>
                </a:solidFill>
              </a:rPr>
              <a:t>Verified Reference Sources and Knowledge Traceability</a:t>
            </a:r>
          </a:p>
          <a:p>
            <a:pPr algn="l"/>
            <a:r>
              <a:rPr lang="en-US" sz="1200" b="1" dirty="0">
                <a:solidFill>
                  <a:srgbClr val="334155"/>
                </a:solidFill>
              </a:rPr>
              <a:t>
[Web-1] </a:t>
            </a:r>
            <a:r>
              <a:rPr lang="en-US" sz="1200" b="1" dirty="0">
                <a:solidFill>
                  <a:srgbClr val="1E293B"/>
                </a:solidFill>
              </a:rPr>
              <a:t>Gartner Top Strategic Technology Trends: Autonomous Multi-Agent AI Systems — </a:t>
            </a:r>
            <a:r>
              <a:rPr lang="en-US" sz="1100" b="0" dirty="0">
                <a:solidFill>
                  <a:srgbClr val="64748B"/>
                </a:solidFill>
              </a:rPr>
              <a:t>https://www.gartner.com/en/insights/strategic-technology-trends-autonomous-agents</a:t>
            </a:r>
          </a:p>
          <a:p>
            <a:pPr algn="l"/>
            <a:r>
              <a:rPr lang="en-US" sz="1200" b="1" dirty="0">
                <a:solidFill>
                  <a:srgbClr val="334155"/>
                </a:solidFill>
              </a:rPr>
              <a:t>
[Web-2] </a:t>
            </a:r>
            <a:r>
              <a:rPr lang="en-US" sz="1200" b="1" dirty="0">
                <a:solidFill>
                  <a:srgbClr val="1E293B"/>
                </a:solidFill>
              </a:rPr>
              <a:t>McKinsey Global Institute: The Economic Potential of Generative AI in Enterprise Operations — </a:t>
            </a:r>
            <a:r>
              <a:rPr lang="en-US" sz="1100" b="0" dirty="0">
                <a:solidFill>
                  <a:srgbClr val="64748B"/>
                </a:solidFill>
              </a:rPr>
              <a:t>https://www.mckinsey.com/capabilities/quantumblack/our-insights/economic-potential-of-generative-ai</a:t>
            </a:r>
          </a:p>
          <a:p>
            <a:pPr algn="l"/>
            <a:r>
              <a:rPr lang="en-US" sz="1200" b="1" dirty="0">
                <a:solidFill>
                  <a:srgbClr val="334155"/>
                </a:solidFill>
              </a:rPr>
              <a:t>
[Web-3] </a:t>
            </a:r>
            <a:r>
              <a:rPr lang="en-US" sz="1200" b="1" dirty="0">
                <a:solidFill>
                  <a:srgbClr val="1E293B"/>
                </a:solidFill>
              </a:rPr>
              <a:t>Stanford AI Index Report: Advanced RAG and Knowledge Graph Fusion — </a:t>
            </a:r>
            <a:r>
              <a:rPr lang="en-US" sz="1100" b="0" dirty="0">
                <a:solidFill>
                  <a:srgbClr val="64748B"/>
                </a:solidFill>
              </a:rPr>
              <a:t>https://aiindex.stanford.edu/report/enterprise-retrieval-augmented-generation</a:t>
            </a:r>
          </a:p>
          <a:p>
            <a:pPr algn="l"/>
            <a:r>
              <a:rPr lang="en-US" sz="1200" b="1" dirty="0">
                <a:solidFill>
                  <a:srgbClr val="334155"/>
                </a:solidFill>
              </a:rPr>
              <a:t>
[Web-4] </a:t>
            </a:r>
            <a:r>
              <a:rPr lang="en-US" sz="1200" b="1" dirty="0">
                <a:solidFill>
                  <a:srgbClr val="1E293B"/>
                </a:solidFill>
              </a:rPr>
              <a:t>MIT Technology Review: Rise of Domain-Specific Small Language Models (SLMs) and Multi-Agent Teams — </a:t>
            </a:r>
            <a:r>
              <a:rPr lang="en-US" sz="1100" b="0" dirty="0">
                <a:solidFill>
                  <a:srgbClr val="64748B"/>
                </a:solidFill>
              </a:rPr>
              <a:t>https://www.technologyreview.com/2024/enterprise-multi-agent-specialization</a:t>
            </a:r>
          </a:p>
          <a:p>
            <a:pPr algn="l"/>
            <a:r>
              <a:rPr lang="en-US" sz="1200" b="1" dirty="0">
                <a:solidFill>
                  <a:srgbClr val="334155"/>
                </a:solidFill>
              </a:rPr>
              <a:t>
[Web-5] </a:t>
            </a:r>
            <a:r>
              <a:rPr lang="en-US" sz="1200" b="1" dirty="0">
                <a:solidFill>
                  <a:srgbClr val="1E293B"/>
                </a:solidFill>
              </a:rPr>
              <a:t>IDC MarketScape: Enterprise AI Governance, Compliance and EU AI Act Alignment — </a:t>
            </a:r>
            <a:r>
              <a:rPr lang="en-US" sz="1100" b="0" dirty="0">
                <a:solidFill>
                  <a:srgbClr val="64748B"/>
                </a:solidFill>
              </a:rPr>
              <a:t>https://www.idc.com/research/enterprise-ai-governance-framework-2025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2" name="Shape_2"/>
          <p:cNvSpPr/>
          <p:nvPr/>
        </p:nvSpPr>
        <p:spPr>
          <a:xfrm>
            <a:off x="800000" y="450000"/>
            <a:ext cx="400000" cy="4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3" name="Shape_3"/>
          <p:cNvSpPr/>
          <p:nvPr/>
        </p:nvSpPr>
        <p:spPr>
          <a:xfrm>
            <a:off x="800000" y="550000"/>
            <a:ext cx="10500000" cy="3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100" b="1" dirty="0">
                <a:solidFill>
                  <a:srgbClr val="334155"/>
                </a:solidFill>
              </a:rPr>
              <a:t>MARKET DYNAMICS</a:t>
            </a:r>
          </a:p>
        </p:txBody>
      </p:sp>
      <p:sp>
        <p:nvSpPr>
          <p:cNvPr id="4" name="Shape_4"/>
          <p:cNvSpPr/>
          <p:nvPr/>
        </p:nvSpPr>
        <p:spPr>
          <a:xfrm>
            <a:off x="800000" y="850000"/>
            <a:ext cx="10500000" cy="700000"/>
          </a:xfrm>
          <a:prstGeom prst="rect">
            <a:avLst/>
          </a:prstGeom>
          <a:noFill/>
          <a:ln>
            <a:noFill/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2600" b="1" dirty="0">
                <a:solidFill>
                  <a:srgbClr val="E2E8F0"/>
                </a:solidFill>
              </a:rPr>
              <a:t>Strategic Recommendations &amp; Immediate Next Steps</a:t>
            </a:r>
          </a:p>
        </p:txBody>
      </p:sp>
      <p:sp>
        <p:nvSpPr>
          <p:cNvPr id="5" name="Shape_5"/>
          <p:cNvSpPr/>
          <p:nvPr/>
        </p:nvSpPr>
        <p:spPr>
          <a:xfrm>
            <a:off x="800000" y="1550000"/>
            <a:ext cx="10592000" cy="2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vert="horz" lIns="91440" tIns="91440" rIns="91440" bIns="91440" rtlCol="0" anchor="ctr"/>
          <a:lstStyle/>
          <a:p>
            <a:endParaRPr/>
          </a:p>
        </p:txBody>
      </p:sp>
      <p:sp>
        <p:nvSpPr>
          <p:cNvPr id="6" name="Shape_6"/>
          <p:cNvSpPr/>
          <p:nvPr/>
        </p:nvSpPr>
        <p:spPr>
          <a:xfrm>
            <a:off x="800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1. Approve Pilot Scope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Formalize 60-day pilot across strategy, consulting, and finance teams.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Immediate</a:t>
            </a:r>
          </a:p>
        </p:txBody>
      </p:sp>
      <p:sp>
        <p:nvSpPr>
          <p:cNvPr id="7" name="Shape_7"/>
          <p:cNvSpPr/>
          <p:nvPr/>
        </p:nvSpPr>
        <p:spPr>
          <a:xfrm>
            <a:off x="4446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2. Connect Enterprise KB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Index corporate knowledge repositories, brand guidelines, and slide templates.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Week 2</a:t>
            </a:r>
          </a:p>
        </p:txBody>
      </p:sp>
      <p:sp>
        <p:nvSpPr>
          <p:cNvPr id="8" name="Shape_8"/>
          <p:cNvSpPr/>
          <p:nvPr/>
        </p:nvSpPr>
        <p:spPr>
          <a:xfrm>
            <a:off x="8092000" y="1800000"/>
            <a:ext cx="3300000" cy="4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vert="horz" lIns="91440" tIns="91440" rIns="91440" bIns="91440" rtlCol="0" anchor="ctr"/>
          <a:lstStyle/>
          <a:p>
            <a:pPr algn="l"/>
            <a:r>
              <a:rPr lang="en-US" sz="1600" b="1" dirty="0">
                <a:solidFill>
                  <a:srgbClr val="E2E8F0"/>
                </a:solidFill>
              </a:rPr>
              <a:t>3. Production Sign-Off</a:t>
            </a:r>
          </a:p>
          <a:p>
            <a:pPr algn="l"/>
            <a:r>
              <a:rPr lang="en-US" sz="1300" b="0" dirty="0">
                <a:solidFill>
                  <a:srgbClr val="475569"/>
                </a:solidFill>
              </a:rPr>
              <a:t>
Execute security audit, validate OpenXML compatibility, and rollout.</a:t>
            </a:r>
          </a:p>
          <a:p>
            <a:pPr algn="l"/>
            <a:r>
              <a:rPr lang="en-US" sz="1800" b="1" dirty="0">
                <a:solidFill>
                  <a:srgbClr val="F1F5F9"/>
                </a:solidFill>
              </a:rPr>
              <a:t>
Week 8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Enterprise Multi-Agent DocuSynth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Enterprise Multi-Agent AI Strategy</dc:title>
  <dc:creator>Enterprise Multi-Agent AI System</dc:creator>
  <cp:lastModifiedBy>PPT Generation Agent</cp:lastModifiedBy>
  <cp:revision>1</cp:revision>
</cp:coreProperties>
</file>